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D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7" d="100"/>
          <a:sy n="107" d="100"/>
        </p:scale>
        <p:origin x="75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B2545"/>
                </a:solidFill>
                <a:latin typeface="Arial"/>
              </a:rPr>
              <a:t>Accuracy Score per Query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0.80200000000000005</c:v>
                </c:pt>
                <c:pt idx="1">
                  <c:v>0.71499999999999997</c:v>
                </c:pt>
                <c:pt idx="2">
                  <c:v>0.84799999999999998</c:v>
                </c:pt>
                <c:pt idx="3">
                  <c:v>0.84899999999999998</c:v>
                </c:pt>
                <c:pt idx="4">
                  <c:v>0.8</c:v>
                </c:pt>
                <c:pt idx="5">
                  <c:v>0.72799999999999998</c:v>
                </c:pt>
                <c:pt idx="6">
                  <c:v>0.84499999999999997</c:v>
                </c:pt>
                <c:pt idx="7">
                  <c:v>0.84099999999999997</c:v>
                </c:pt>
                <c:pt idx="8">
                  <c:v>0.89100000000000001</c:v>
                </c:pt>
                <c:pt idx="9">
                  <c:v>0.79</c:v>
                </c:pt>
                <c:pt idx="10">
                  <c:v>0.83699999999999997</c:v>
                </c:pt>
                <c:pt idx="11">
                  <c:v>0.85299999999999998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4-401A-A236-9DD6E947E6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B2545"/>
                </a:solidFill>
                <a:latin typeface="Arial"/>
              </a:rPr>
              <a:t>BERTScore / Faithfulness / Relevance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BERTScore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0.92600000000000005</c:v>
                </c:pt>
                <c:pt idx="1">
                  <c:v>0.91</c:v>
                </c:pt>
                <c:pt idx="2">
                  <c:v>0.95499999999999996</c:v>
                </c:pt>
                <c:pt idx="3">
                  <c:v>0.90200000000000002</c:v>
                </c:pt>
                <c:pt idx="4">
                  <c:v>0.91</c:v>
                </c:pt>
                <c:pt idx="5">
                  <c:v>0.93799999999999994</c:v>
                </c:pt>
                <c:pt idx="6">
                  <c:v>0.92300000000000004</c:v>
                </c:pt>
                <c:pt idx="7">
                  <c:v>0.90400000000000003</c:v>
                </c:pt>
                <c:pt idx="8">
                  <c:v>0.90100000000000002</c:v>
                </c:pt>
                <c:pt idx="9">
                  <c:v>0.9</c:v>
                </c:pt>
                <c:pt idx="10">
                  <c:v>0.89900000000000002</c:v>
                </c:pt>
                <c:pt idx="11">
                  <c:v>0.871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0FE-4FB4-A938-8497A5433D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Faithfulness</c:v>
                </c:pt>
              </c:strCache>
            </c:strRef>
          </c:tx>
          <c:spPr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0.54600000000000004</c:v>
                </c:pt>
                <c:pt idx="1">
                  <c:v>0.55800000000000005</c:v>
                </c:pt>
                <c:pt idx="2">
                  <c:v>0.72099999999999997</c:v>
                </c:pt>
                <c:pt idx="3">
                  <c:v>0.67600000000000005</c:v>
                </c:pt>
                <c:pt idx="4">
                  <c:v>0.81799999999999995</c:v>
                </c:pt>
                <c:pt idx="5">
                  <c:v>0.73399999999999999</c:v>
                </c:pt>
                <c:pt idx="6">
                  <c:v>0.65300000000000002</c:v>
                </c:pt>
                <c:pt idx="7">
                  <c:v>0.79600000000000004</c:v>
                </c:pt>
                <c:pt idx="8">
                  <c:v>0.80100000000000005</c:v>
                </c:pt>
                <c:pt idx="9">
                  <c:v>0.79100000000000004</c:v>
                </c:pt>
                <c:pt idx="10">
                  <c:v>0.68500000000000005</c:v>
                </c:pt>
                <c:pt idx="11">
                  <c:v>0.86699999999999999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0FE-4FB4-A938-8497A5433D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Relevance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0.76400000000000001</c:v>
                </c:pt>
                <c:pt idx="1">
                  <c:v>0.70199999999999996</c:v>
                </c:pt>
                <c:pt idx="2">
                  <c:v>0.58699999999999997</c:v>
                </c:pt>
                <c:pt idx="3">
                  <c:v>0.78700000000000003</c:v>
                </c:pt>
                <c:pt idx="4">
                  <c:v>0.68200000000000005</c:v>
                </c:pt>
                <c:pt idx="5">
                  <c:v>0.94499999999999995</c:v>
                </c:pt>
                <c:pt idx="6">
                  <c:v>0.72499999999999998</c:v>
                </c:pt>
                <c:pt idx="7">
                  <c:v>0.90300000000000002</c:v>
                </c:pt>
                <c:pt idx="8">
                  <c:v>0.96</c:v>
                </c:pt>
                <c:pt idx="9">
                  <c:v>0.751</c:v>
                </c:pt>
                <c:pt idx="10">
                  <c:v>0.66300000000000003</c:v>
                </c:pt>
                <c:pt idx="11">
                  <c:v>0.73299999999999998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C0FE-4FB4-A938-8497A5433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791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365760"/>
            <a:ext cx="2286000" cy="438912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411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0000"/>
                </a:solidFill>
              </a:rPr>
              <a:t>🧬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RAG System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 &amp; Local LLM (Qwen2.5:3b via Ollama)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Clinical &amp; Pharma Queries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063240"/>
            <a:ext cx="29260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3246120"/>
            <a:ext cx="1965960" cy="310896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24612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Privacy-First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3246120"/>
            <a:ext cx="1965960" cy="310896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324612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 Offline Ready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3246120"/>
            <a:ext cx="1965960" cy="310896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24612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Lightweight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3246120"/>
            <a:ext cx="1965960" cy="310896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24612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Zero API Cost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Raghava Sai  |  AI/ML Engineer  |  RAG Systems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280160"/>
            <a:ext cx="2011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4B8A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4B8A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846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91440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Data Privacy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72184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clinical/pharma data cannot be sent to cloud APIs (HIPAA, IP concerns)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4846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57400"/>
            <a:ext cx="91440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High API Costs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86584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LLMs charge per token — expensive at scale for domain-specific queries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846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91440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Internet Dependency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300984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LLMs are unavailable in offline or restricted hospital environments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4846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86200"/>
            <a:ext cx="91440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Hallucination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215384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LLMs answer outside context — dangerous in life sciences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143000"/>
            <a:ext cx="3429000" cy="365760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12801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94960" y="1737360"/>
            <a:ext cx="342900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76479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23760" y="176479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94960" y="2240280"/>
            <a:ext cx="3429000" cy="475488"/>
          </a:xfrm>
          <a:prstGeom prst="rect">
            <a:avLst/>
          </a:prstGeom>
          <a:solidFill>
            <a:srgbClr val="162F4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226771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23760" y="226771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breach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94960" y="2743200"/>
            <a:ext cx="342900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27706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offline use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23760" y="277063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failure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94960" y="3246120"/>
            <a:ext cx="3429000" cy="475488"/>
          </a:xfrm>
          <a:prstGeom prst="rect">
            <a:avLst/>
          </a:prstGeom>
          <a:solidFill>
            <a:srgbClr val="162F4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32735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billing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23760" y="32735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blowout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94960" y="3749040"/>
            <a:ext cx="342900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0" y="37764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23760" y="37764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risk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94960" y="4343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Solution: Local LLM + RAG Pipeline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0292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144475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1188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5361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Qwen2.5:3b via Ollama — full offline, zero cloud dependency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31720"/>
            <a:ext cx="502920" cy="1097280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26791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" y="24231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8408" y="277063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BM25 keyword search + FAISS semantic vectors for high-recall retrieval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56616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66160"/>
            <a:ext cx="502920" cy="10972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" y="39136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8408" y="3657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Grounding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8408" y="400507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answers strictly to uploaded documents — no hallucination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502920" cy="1097280"/>
          </a:xfrm>
          <a:prstGeom prst="rect">
            <a:avLst/>
          </a:prstGeom>
          <a:solidFill>
            <a:srgbClr val="0B4A6E"/>
          </a:solidFill>
          <a:ln/>
        </p:spPr>
      </p:sp>
      <p:sp>
        <p:nvSpPr>
          <p:cNvPr id="21" name="Text 19"/>
          <p:cNvSpPr/>
          <p:nvPr/>
        </p:nvSpPr>
        <p:spPr>
          <a:xfrm>
            <a:off x="4764024" y="144475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3248" y="1188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13248" y="15361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PDF, CSV, XLSX, TXT, JSON — chunk and embed automatically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31720"/>
            <a:ext cx="502920" cy="109728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26" name="Text 24"/>
          <p:cNvSpPr/>
          <p:nvPr/>
        </p:nvSpPr>
        <p:spPr>
          <a:xfrm>
            <a:off x="4764024" y="26791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13248" y="24231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3248" y="277063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BERTScore, Faithfulness, Relevance, Groundedness per answer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502920" cy="10972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1" name="Text 29"/>
          <p:cNvSpPr/>
          <p:nvPr/>
        </p:nvSpPr>
        <p:spPr>
          <a:xfrm>
            <a:off x="4764024" y="39136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13248" y="3657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3248" y="400507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admin/user roles and full audit logging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03520" cy="658368"/>
          </a:xfrm>
          <a:prstGeom prst="rect">
            <a:avLst/>
          </a:prstGeom>
          <a:solidFill>
            <a:srgbClr val="0F76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424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51760" y="113385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Chat · Upload · Admin · LLM Judge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303520" cy="658368"/>
          </a:xfrm>
          <a:prstGeom prst="rect">
            <a:avLst/>
          </a:prstGeom>
          <a:solidFill>
            <a:srgbClr val="0B6E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196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122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auth.py — JWT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51760" y="191109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generation · Role verification (admin / user)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5303520" cy="658368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5968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8895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51760" y="268833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retrieve() · generate_answer() · context builder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5303520" cy="658368"/>
          </a:xfrm>
          <a:prstGeom prst="rect">
            <a:avLst/>
          </a:prstGeom>
          <a:solidFill>
            <a:srgbClr val="0B4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374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6667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hybrid_search.py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51760" y="346557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(0.7 weight) + FAISS cosine sim (0.3 weight)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530352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41513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4439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Qwen2.5:3b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51760" y="424281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inference — no cloud API calls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Modules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1325880"/>
            <a:ext cx="2743200" cy="749808"/>
          </a:xfrm>
          <a:prstGeom prst="rect">
            <a:avLst/>
          </a:prstGeom>
          <a:solidFill>
            <a:srgbClr val="162F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1325880"/>
            <a:ext cx="73152" cy="7498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6236208" y="1371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ingestion.py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36208" y="16642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PDF/CSV/XLSX chunking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80760" y="2240280"/>
            <a:ext cx="2743200" cy="749808"/>
          </a:xfrm>
          <a:prstGeom prst="rect">
            <a:avLst/>
          </a:prstGeom>
          <a:solidFill>
            <a:srgbClr val="162F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0760" y="2240280"/>
            <a:ext cx="73152" cy="7498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9" name="Text 37"/>
          <p:cNvSpPr/>
          <p:nvPr/>
        </p:nvSpPr>
        <p:spPr>
          <a:xfrm>
            <a:off x="6236208" y="22860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embeddings.py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36208" y="25786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 management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80760" y="3154680"/>
            <a:ext cx="2743200" cy="749808"/>
          </a:xfrm>
          <a:prstGeom prst="rect">
            <a:avLst/>
          </a:prstGeom>
          <a:solidFill>
            <a:srgbClr val="162F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0760" y="3154680"/>
            <a:ext cx="73152" cy="7498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Text 41"/>
          <p:cNvSpPr/>
          <p:nvPr/>
        </p:nvSpPr>
        <p:spPr>
          <a:xfrm>
            <a:off x="6236208" y="3200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evaluation.py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36208" y="34930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scoring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0760" y="4069080"/>
            <a:ext cx="2743200" cy="749808"/>
          </a:xfrm>
          <a:prstGeom prst="rect">
            <a:avLst/>
          </a:prstGeom>
          <a:solidFill>
            <a:srgbClr val="162F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0760" y="4069080"/>
            <a:ext cx="73152" cy="7498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7" name="Text 45"/>
          <p:cNvSpPr/>
          <p:nvPr/>
        </p:nvSpPr>
        <p:spPr>
          <a:xfrm>
            <a:off x="6236208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audit.py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36208" y="44074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JSONL log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Artifacts: faiss.index · documents.pkl · audit_logs.jsonl · evaluation_report.json</a:t>
            </a:r>
            <a:endParaRPr lang="en-US" sz="900" dirty="0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D2A40D44-CB7D-802F-AA1A-258C850FC210}"/>
              </a:ext>
            </a:extLst>
          </p:cNvPr>
          <p:cNvSpPr/>
          <p:nvPr/>
        </p:nvSpPr>
        <p:spPr>
          <a:xfrm>
            <a:off x="2951695" y="1662450"/>
            <a:ext cx="111546" cy="109728"/>
          </a:xfrm>
          <a:prstGeom prst="downArrow">
            <a:avLst/>
          </a:prstGeom>
          <a:solidFill>
            <a:srgbClr val="31D7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4DC0832B-F056-405B-F799-D035BEC9C15C}"/>
              </a:ext>
            </a:extLst>
          </p:cNvPr>
          <p:cNvSpPr/>
          <p:nvPr/>
        </p:nvSpPr>
        <p:spPr>
          <a:xfrm>
            <a:off x="2951695" y="2445062"/>
            <a:ext cx="111546" cy="109728"/>
          </a:xfrm>
          <a:prstGeom prst="downArrow">
            <a:avLst/>
          </a:prstGeom>
          <a:solidFill>
            <a:srgbClr val="31D7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A913B610-246D-5FFC-EE0B-DAF529AE11F9}"/>
              </a:ext>
            </a:extLst>
          </p:cNvPr>
          <p:cNvSpPr/>
          <p:nvPr/>
        </p:nvSpPr>
        <p:spPr>
          <a:xfrm>
            <a:off x="2951695" y="3225211"/>
            <a:ext cx="111546" cy="109728"/>
          </a:xfrm>
          <a:prstGeom prst="downArrow">
            <a:avLst/>
          </a:prstGeom>
          <a:solidFill>
            <a:srgbClr val="31D7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88081D43-6F0F-B64C-B8FD-D0BB1FF34F29}"/>
              </a:ext>
            </a:extLst>
          </p:cNvPr>
          <p:cNvSpPr/>
          <p:nvPr/>
        </p:nvSpPr>
        <p:spPr>
          <a:xfrm>
            <a:off x="2951695" y="4011595"/>
            <a:ext cx="111546" cy="109728"/>
          </a:xfrm>
          <a:prstGeom prst="downArrow">
            <a:avLst/>
          </a:prstGeom>
          <a:solidFill>
            <a:srgbClr val="31D7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RAG Workflow: Document Input → Answer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325880" cy="12344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2471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PDF/CSV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XLSX/TXT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38528" y="1078992"/>
            <a:ext cx="1325880" cy="1234440"/>
          </a:xfrm>
          <a:prstGeom prst="rect">
            <a:avLst/>
          </a:prstGeom>
          <a:solidFill>
            <a:srgbClr val="0B4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38528" y="112471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38528" y="15361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38528" y="182880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chars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overlap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64408" y="1463040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11296" y="1078992"/>
            <a:ext cx="1325880" cy="12344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11296" y="112471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11296" y="15361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11296" y="182880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37176" y="1463040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84064" y="1078992"/>
            <a:ext cx="1325880" cy="1234440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84064" y="1124712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84064" y="15361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84064" y="182880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faiss.index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docs.pkl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91088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INGESTION PIPELINE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423160"/>
            <a:ext cx="841248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2578608"/>
            <a:ext cx="1325880" cy="12344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262432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65760" y="30358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32841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input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691640" y="2971800"/>
            <a:ext cx="265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956816" y="2578608"/>
            <a:ext cx="1325880" cy="1234440"/>
          </a:xfrm>
          <a:prstGeom prst="rect">
            <a:avLst/>
          </a:prstGeom>
          <a:solidFill>
            <a:srgbClr val="0B4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56816" y="262432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956816" y="30358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56816" y="332841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0.7/0.3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82696" y="2971800"/>
            <a:ext cx="265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547872" y="2578608"/>
            <a:ext cx="1325880" cy="123444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547872" y="262432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547872" y="30358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47872" y="332841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Top-7 docs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73752" y="2971800"/>
            <a:ext cx="265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38928" y="2578608"/>
            <a:ext cx="1325880" cy="1234440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38928" y="262432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138928" y="30358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38928" y="332841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RAG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464808" y="2971800"/>
            <a:ext cx="265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729984" y="2578608"/>
            <a:ext cx="1325880" cy="12344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729984" y="262432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729984" y="30358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29984" y="332841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Qwen2.5:3b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65760" y="24041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QUERY PIPELINE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3950208"/>
            <a:ext cx="8412480" cy="86868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48640" y="39867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Final Answer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431596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+ source citations + page references → displayed in Streamlit UI → logged to audit_logs.jsonl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92240" y="1737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FAISS Index feeds into Query Search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616952" y="2134770"/>
            <a:ext cx="36576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5" name="Text 53"/>
          <p:cNvSpPr/>
          <p:nvPr/>
        </p:nvSpPr>
        <p:spPr>
          <a:xfrm>
            <a:off x="7452358" y="239572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 Structure &amp; Module Interactions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2062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24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streamlit_app.py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54680" y="104241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Orchestrator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31673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login_page()  chat_section()  upload_section()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admin_panel()  llm_judge()  init_rag_once()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11680"/>
            <a:ext cx="4206240" cy="274320"/>
          </a:xfrm>
          <a:prstGeom prst="rect">
            <a:avLst/>
          </a:prstGeom>
          <a:solidFill>
            <a:srgbClr val="0B4A6E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2029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204825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232257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init_hybrid()  retrieve(query, top_k=7)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generate_answer(query, context, citations)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4206240" cy="2743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30358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hybrid_search.py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305409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9768" y="332841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bm25_search()  vector_search()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search() → 0.7×BM25 + 0.3×FAISS score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402336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023360"/>
            <a:ext cx="4206240" cy="274320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4041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54680" y="40599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433425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load_documents(data_dir)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Chunks: size=500, overlap=100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05840"/>
            <a:ext cx="4206240" cy="274320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1024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embeddings.py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104241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Manager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64608" y="131673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load_or_create_faiss()  is_model_changed()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4-case rebuild: full / incremental / cached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01168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11680"/>
            <a:ext cx="42062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2029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evaluation.py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204825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64608" y="232257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evaluate()  compute_bertscore()  llm_judge()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compute_faithfulness()  compute_groundedness()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01752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017520"/>
            <a:ext cx="4206240" cy="274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30358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305409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64608" y="332841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authenticate()  verify_token()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check_permission(token, required_role)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402336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4023360"/>
            <a:ext cx="4206240" cy="2743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1" name="Text 39"/>
          <p:cNvSpPr/>
          <p:nvPr/>
        </p:nvSpPr>
        <p:spPr>
          <a:xfrm>
            <a:off x="4864608" y="4041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audit.py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89520" y="40599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64608" y="433425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log_interaction(user, query, answer, sources)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audit_logs.jsonl (append-only)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 Choice &amp; Technical Approach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93192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Model 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329184"/>
          </a:xfrm>
          <a:prstGeom prst="rect">
            <a:avLst/>
          </a:prstGeom>
          <a:solidFill>
            <a:srgbClr val="162F4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27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20240" y="15270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Qwen2.5:3b (via Ollama)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411480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03704"/>
            <a:ext cx="4114800" cy="329184"/>
          </a:xfrm>
          <a:prstGeom prst="rect">
            <a:avLst/>
          </a:prstGeom>
          <a:solidFill>
            <a:srgbClr val="162F4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221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(UI)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22219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551176"/>
            <a:ext cx="411480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569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20240" y="25694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evaluation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114800" cy="329184"/>
          </a:xfrm>
          <a:prstGeom prst="rect">
            <a:avLst/>
          </a:prstGeom>
          <a:solidFill>
            <a:srgbClr val="162F4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916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20240" y="291693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46120"/>
            <a:ext cx="411480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264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20240" y="32644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593592"/>
            <a:ext cx="4114800" cy="329184"/>
          </a:xfrm>
          <a:prstGeom prst="rect">
            <a:avLst/>
          </a:prstGeom>
          <a:solidFill>
            <a:srgbClr val="162F4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20240" y="3611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/ offline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941064"/>
            <a:ext cx="4114800" cy="32918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9593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920240" y="39593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GB (3b model)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288536"/>
            <a:ext cx="4114800" cy="329184"/>
          </a:xfrm>
          <a:prstGeom prst="rect">
            <a:avLst/>
          </a:prstGeom>
          <a:solidFill>
            <a:srgbClr val="162F4F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3068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920240" y="430682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~6–12 sec per answer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1005840"/>
            <a:ext cx="41148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005840"/>
            <a:ext cx="594360" cy="859536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1704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49240" y="10607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349240" y="135331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or drug data leaves the network. Compliant with HIPAA, GxP, and IP policies.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1984248"/>
            <a:ext cx="41148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1984248"/>
            <a:ext cx="594360" cy="859536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21488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📴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349240" y="20391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Ready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49240" y="233172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without internet in hospital or lab environments with restricted connectivity.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2962656"/>
            <a:ext cx="41148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2962656"/>
            <a:ext cx="594360" cy="859536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312724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349240" y="30175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349240" y="331012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Qwen2.5:3b fits on standard hardware — no GPU cluster required.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3941064"/>
            <a:ext cx="411480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3941064"/>
            <a:ext cx="594360" cy="859536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663440" y="4105656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349240" y="39959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API Cost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349240" y="428853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per-token billing. Scale queries indefinitely at no marginal cost.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4636008"/>
            <a:ext cx="845820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4" name="Text 52"/>
          <p:cNvSpPr/>
          <p:nvPr/>
        </p:nvSpPr>
        <p:spPr>
          <a:xfrm>
            <a:off x="411480" y="4663440"/>
            <a:ext cx="8275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not GPT-4 / Claude? → PHI/PII cannot leave the network. Local inference is mandatory for compliant life sciences deployments.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Project Workplan &amp; Phases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24128"/>
            <a:ext cx="4206240" cy="32004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11480" y="1042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0" y="1060704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3898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 &amp; data formats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164592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privacy constraints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90195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local LLM options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5000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50008"/>
            <a:ext cx="4206240" cy="320040"/>
          </a:xfrm>
          <a:prstGeom prst="rect">
            <a:avLst/>
          </a:prstGeom>
          <a:solidFill>
            <a:srgbClr val="0B4A6E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368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0" y="2386584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271576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Python, Ollama, FAISS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297180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all-MiniLM-L6-v2 offline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" y="322783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Streamlit environment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67588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75888"/>
            <a:ext cx="42062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0" y="3712464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Pipeline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9768" y="404164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ingestion.py (PDF/CSV/XLSX)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" y="429768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chunking &amp; embeddings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455371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FAISS index with 4-case logic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02412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24128"/>
            <a:ext cx="4206240" cy="32004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042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78040" y="1060704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Integration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64608" y="13898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Ollama + Qwen2.5:3b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64608" y="164592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hybrid BM25 + FAISS search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64608" y="190195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strict RAG prompt template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35000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350008"/>
            <a:ext cx="42062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368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178040" y="2386584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271576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12 eval tasks across domains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64608" y="297180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BERTScore, Faithfulness, Relevance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64608" y="322783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LLM-as-judge scoring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67588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675888"/>
            <a:ext cx="4206240" cy="3200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178040" y="3712464"/>
            <a:ext cx="1691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64608" y="404164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chunking &amp; retrieval weights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64608" y="429768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JWT auth &amp; audit logging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64608" y="455371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 + deployment packaging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Evaluation Results (12 Real Test Queries)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192024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161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Accuracy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4904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68880" y="98755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87552"/>
            <a:ext cx="1920240" cy="2011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2161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BERTScore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14904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17720" y="98755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87552"/>
            <a:ext cx="1920240" cy="201168"/>
          </a:xfrm>
          <a:prstGeom prst="rect">
            <a:avLst/>
          </a:prstGeom>
          <a:solidFill>
            <a:srgbClr val="0B4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2161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Faithfulness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14904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0.737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66560" y="98755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987552"/>
            <a:ext cx="192024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2161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Relevance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14904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0.768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67128"/>
          <a:ext cx="7360920" cy="28727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(abbreviated)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Lepirudin synonyms &amp; DrugBank 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 Health Inventory — HSRR dataset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DrugBank entry DB15629 (Garadacimab)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Prescribed Drug Use / MEPS dataset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B.R.I.D.G.E. TO DATA description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Pooled EQ-5D-5L score — post-COVID India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Poorer HRQoL group (post-COVID study)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determinants — impaired post-COVID HRQoL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QODD versions (dying &amp; death tool)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EuroQol EQ-5D — HSRR 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Age-related memory generalization — Drosophila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Engram cell reactivation — young vs aged flies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Accuracy &amp; Metric Distribution Across 12 Queries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05840"/>
          <a:ext cx="49377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394960" y="1005840"/>
          <a:ext cx="3429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041648"/>
            <a:ext cx="28346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0040" y="4041648"/>
            <a:ext cx="283464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40507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11480" y="4325112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325880" y="435254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QODD versions query — exact structure match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64408" y="4041648"/>
            <a:ext cx="28346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64408" y="4041648"/>
            <a:ext cx="283464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9"/>
          <p:cNvSpPr/>
          <p:nvPr/>
        </p:nvSpPr>
        <p:spPr>
          <a:xfrm>
            <a:off x="3264408" y="40507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Accuracy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355848" y="4325112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0.715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270248" y="435254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Inventory — complex multi-detail query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08776" y="4041648"/>
            <a:ext cx="28346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08776" y="4041648"/>
            <a:ext cx="283464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4"/>
          <p:cNvSpPr/>
          <p:nvPr/>
        </p:nvSpPr>
        <p:spPr>
          <a:xfrm>
            <a:off x="6208776" y="40507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Relevance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300216" y="4325112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7214616" y="435254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QODD query — strong semantic alignment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 Encountered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Hallucination Control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40480" y="1115568"/>
            <a:ext cx="594360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11556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3B models occasionally answer outside context. Solved with strict prompt rules: 'Answer ONLY from provided context → else say Not found in context'.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35000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40487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Domain Specificity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0" y="2441448"/>
            <a:ext cx="594360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44144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275234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DrugBank IDs, clinical instrument names, and pharmacological terminology require exact match. General embeddings miss rare identifiers — solved with 0.7 BM25 weight.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67588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73075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Retrieval Quality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0" y="3767328"/>
            <a:ext cx="594360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376732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407822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content across CSV rows caused noise. Source deduplication in retrieve() and chunk overlap tuning (100 chars) improved precision.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02412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07899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Latency (6–12 sec)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75320" y="1115568"/>
            <a:ext cx="594360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111556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92040" y="142646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Qwen2.5:3b CPU inference adds 6–12 sec per query. Acceptable for document Q&amp;A but not real-time. GPU acceleration would bring this to &lt;2 sec.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35000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40487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Hardware Constraints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75320" y="2441448"/>
            <a:ext cx="594360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8275320" y="244144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92040" y="275234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SentenceTransformer + Ollama together consume ~6–8 GB RAM. Full rebuild of large indexes takes 2–5 min. Incremental update logic was added to mitigate.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67588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73075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Extraction Limits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75320" y="3767328"/>
            <a:ext cx="594360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3767328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92040" y="407822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PDFs (image-based) not supported by PyPDF2. OCR integration (Tesseract) planned for future. Currently skips pages without extractable text.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 &amp; Improvements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206240" cy="1188720"/>
          </a:xfrm>
          <a:prstGeom prst="rect">
            <a:avLst/>
          </a:prstGeom>
          <a:solidFill>
            <a:srgbClr val="162F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24128"/>
            <a:ext cx="4206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521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Cross-Encoder Re-Ranking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76472" y="1161288"/>
            <a:ext cx="685800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776472" y="11612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9768" y="1472184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ms-marco-MiniLM re-ranker after hybrid retrieval to boost top-k precision before LLM prompt construction.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350008"/>
            <a:ext cx="4206240" cy="1188720"/>
          </a:xfrm>
          <a:prstGeom prst="rect">
            <a:avLst/>
          </a:prstGeom>
          <a:solidFill>
            <a:srgbClr val="162F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50008"/>
            <a:ext cx="4206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24780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Vector Database (Qdrant / Weaviate)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58184" y="2487168"/>
            <a:ext cx="685800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75888" y="2505456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Infrastructure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9768" y="2798064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in-process FAISS with a persistent vector DB for multi-user, multi-collection deployments at scale.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675888"/>
            <a:ext cx="4206240" cy="1188720"/>
          </a:xfrm>
          <a:prstGeom prst="rect">
            <a:avLst/>
          </a:prstGeom>
          <a:solidFill>
            <a:srgbClr val="162F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75888"/>
            <a:ext cx="4206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38039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Streaming Responses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76472" y="3813048"/>
            <a:ext cx="685800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776472" y="381304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29768" y="4123944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Ollama stream=True output to Streamlit for token-by-token rendering — eliminates the 6–12 sec wait.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024128"/>
            <a:ext cx="4206240" cy="1188720"/>
          </a:xfrm>
          <a:prstGeom prst="rect">
            <a:avLst/>
          </a:prstGeom>
          <a:solidFill>
            <a:srgbClr val="162F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24128"/>
            <a:ext cx="4206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11521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Multimodal Support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11312" y="1161288"/>
            <a:ext cx="685800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8211312" y="11612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64608" y="1472184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OCR (Tesseract) for scanned PDFs + CLIP for image+text DICOM and pathology slide retrieval.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350008"/>
            <a:ext cx="4206240" cy="1188720"/>
          </a:xfrm>
          <a:prstGeom prst="rect">
            <a:avLst/>
          </a:prstGeom>
          <a:solidFill>
            <a:srgbClr val="162F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350008"/>
            <a:ext cx="4206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4780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RAGAS Integration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11312" y="2487168"/>
            <a:ext cx="685800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8211312" y="248716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64608" y="2798064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custom eval with RAGAS framework for standardized, reproducible benchmarks across model versions.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675888"/>
            <a:ext cx="4206240" cy="1188720"/>
          </a:xfrm>
          <a:prstGeom prst="rect">
            <a:avLst/>
          </a:prstGeom>
          <a:solidFill>
            <a:srgbClr val="162F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675888"/>
            <a:ext cx="4206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38039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Larger Models (7b / 14b)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11312" y="3813048"/>
            <a:ext cx="685800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8211312" y="381304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64608" y="4123944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 already used for judging — promote to answer generation when GPU resources allow.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RAG System  ·  Raghava Sai  ·  AI/ML Engineer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1544</Words>
  <Application>Microsoft Office PowerPoint</Application>
  <PresentationFormat>On-screen Show (16:9)</PresentationFormat>
  <Paragraphs>380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Sciences RAG System</dc:title>
  <dc:subject>PptxGenJS Presentation</dc:subject>
  <dc:creator>Raghava Sai</dc:creator>
  <cp:lastModifiedBy>Raghava Parisa</cp:lastModifiedBy>
  <cp:revision>7</cp:revision>
  <dcterms:created xsi:type="dcterms:W3CDTF">2026-04-23T09:59:49Z</dcterms:created>
  <dcterms:modified xsi:type="dcterms:W3CDTF">2026-04-23T10:35:21Z</dcterms:modified>
</cp:coreProperties>
</file>